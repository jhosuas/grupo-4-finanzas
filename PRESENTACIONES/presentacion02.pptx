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s-ES" sz="1300" b="0" i="0" u="none" strike="noStrike">
                <a:solidFill>
                  <a:srgbClr val="1E2761"/>
                </a:solidFill>
                <a:latin typeface="Calibri"/>
              </a:rPr>
              <a:t>Efecto del suavizado (ilustrativo)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real (ruido)</c:v>
                </c:pt>
              </c:strCache>
            </c:strRef>
          </c:tx>
          <c:spPr>
            <a:ln w="254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33</c:v>
                </c:pt>
                <c:pt idx="1">
                  <c:v>29</c:v>
                </c:pt>
                <c:pt idx="2">
                  <c:v>34</c:v>
                </c:pt>
                <c:pt idx="3">
                  <c:v>30</c:v>
                </c:pt>
                <c:pt idx="4">
                  <c:v>37</c:v>
                </c:pt>
                <c:pt idx="5">
                  <c:v>33</c:v>
                </c:pt>
                <c:pt idx="6">
                  <c:v>41</c:v>
                </c:pt>
                <c:pt idx="7">
                  <c:v>38</c:v>
                </c:pt>
                <c:pt idx="8">
                  <c:v>45</c:v>
                </c:pt>
                <c:pt idx="9">
                  <c:v>42</c:v>
                </c:pt>
                <c:pt idx="10">
                  <c:v>48</c:v>
                </c:pt>
                <c:pt idx="11">
                  <c:v>44</c:v>
                </c:pt>
                <c:pt idx="12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FC-4826-A850-7C53C07ED1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Suavizado (spline)</c:v>
                </c:pt>
              </c:strCache>
            </c:strRef>
          </c:tx>
          <c:spPr>
            <a:ln w="254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33</c:v>
                </c:pt>
                <c:pt idx="1">
                  <c:v>31</c:v>
                </c:pt>
                <c:pt idx="2">
                  <c:v>33</c:v>
                </c:pt>
                <c:pt idx="3">
                  <c:v>33</c:v>
                </c:pt>
                <c:pt idx="4">
                  <c:v>36</c:v>
                </c:pt>
                <c:pt idx="5">
                  <c:v>37</c:v>
                </c:pt>
                <c:pt idx="6">
                  <c:v>39</c:v>
                </c:pt>
                <c:pt idx="7">
                  <c:v>40</c:v>
                </c:pt>
                <c:pt idx="8">
                  <c:v>43</c:v>
                </c:pt>
                <c:pt idx="9">
                  <c:v>44</c:v>
                </c:pt>
                <c:pt idx="10">
                  <c:v>46</c:v>
                </c:pt>
                <c:pt idx="11">
                  <c:v>47</c:v>
                </c:pt>
                <c:pt idx="12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FC-4826-A850-7C53C07ED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s-ES" sz="1300" b="0" i="0" u="none" strike="noStrike">
                <a:solidFill>
                  <a:srgbClr val="1E2761"/>
                </a:solidFill>
                <a:latin typeface="Calibri"/>
              </a:rPr>
              <a:t>Proporción Train / Test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30-4097-83E3-73735241C85C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30-4097-83E3-73735241C85C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30-4097-83E3-73735241C85C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30-4097-83E3-73735241C85C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Entrenamiento (Train)</c:v>
                </c:pt>
                <c:pt idx="1">
                  <c:v>Prueba (Test)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30-4097-83E3-73735241C8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19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214C-0643-151F-643B-CD4158AF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C0E7F-8B22-3622-9124-A3C2FFFC6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7D386-DB98-BB0B-C05E-407AA59B1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EB6BE-5BCB-AEEF-469F-7F71F9D33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9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" y="490118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828800" y="449884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926080" y="464972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023360" y="424738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120640" y="439826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217920" y="399592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315200" y="414680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412480" y="374446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509760" y="389534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0607040" y="349300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DINÁMICA DE PRECIOS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NASDAQ-100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Métodos Numéricos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1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Toapanta  ·  José Pallares  ·  Jhosua Saa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ruido bursátil a un modelo continuo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analiza la serie temporal del índice NASDAQ-100 entre octubre de 2019 y octubre de 2024, un período con alta volatilidad diaria. El objetivo es transformar los registros históricos de cierre en un modelo matemático continuo mediante métodos numéricos.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estabilizar los cálculos, el dataset se normalizó y las fechas se convirtieron en una variable numérica continua, evitando errores de redondeo o desbordamiento en matrices de grado superior.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223760" y="1828800"/>
            <a:ext cx="438912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5895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TEMPORAL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2395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2019 — Oct 2024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589520" y="3063240"/>
            <a:ext cx="35661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89520" y="3246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1340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589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continuos (días hábiles)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4315968"/>
            <a:ext cx="35661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5895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(NASDQ Dataset)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48920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Enfoque: filtrar el ruido diario para evaluar la reacción del activo frente a eventos económicos y proyectar su tendencia.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metas, tres métodos numéricos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Suavizar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los precios normalizados mediante interpolación por splines cúbicos, reduciendo el ruido y obteniendo una curva continua.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091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091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470916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4747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polinomio de aproximación mediante regresión por mínimos cuadrados que describa el comportamiento del índice.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4964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5496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8549640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4747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momento en que el índice alcanza el precio objetivo usando el método de Newton-Raphson.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1 DE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Interpolación por splines cúbicos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una curva continua y suave conectando puntos discretos mediante polinomios de tercer grado por tramos. En este proyecto actúa como filtro de ruido: en lugar de unir variaciones erráticas con líneas rectas, genera una trayectoria fluida que revela el comportamiento subyacente del mercado.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usar una plantilla curva ("cercha") para trazar la línea que mejor une los puntos.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949440" y="1828800"/>
          <a:ext cx="46634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2 DE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por mínimos cuadrados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optimización que busca la curva de tendencia central minimizando el error cuadrático entre los puntos suavizados por los splines y el modelo. Se construye una matriz de Vandermonde y se resuelve el sistema de ecuaciones normales: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36804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(AᵀA)x = Aᵀy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proceso reduce la sobre-determinación del sistema —de miles de ecuaciones a una matriz cuadrada manejable— entregando los coeficientes del polinomio de mejor ajuste.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87452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63840" y="18745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suavizados (spline)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265176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2" name="Text 10"/>
          <p:cNvSpPr/>
          <p:nvPr/>
        </p:nvSpPr>
        <p:spPr>
          <a:xfrm>
            <a:off x="7360920" y="26517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63840" y="26517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Vandermonde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342900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5" name="Text 13"/>
          <p:cNvSpPr/>
          <p:nvPr/>
        </p:nvSpPr>
        <p:spPr>
          <a:xfrm>
            <a:off x="7360920" y="34290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63840" y="34290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AᵀA y Aᵀy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420624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8" name="Text 16"/>
          <p:cNvSpPr/>
          <p:nvPr/>
        </p:nvSpPr>
        <p:spPr>
          <a:xfrm>
            <a:off x="7360920" y="4206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63840" y="42062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np.linalg.solve()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498348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21" name="Text 19"/>
          <p:cNvSpPr/>
          <p:nvPr/>
        </p:nvSpPr>
        <p:spPr>
          <a:xfrm>
            <a:off x="7360920" y="49834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63840" y="49834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del polinomio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3 DE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de Newton-Raphson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39" y="1828800"/>
            <a:ext cx="1064809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iterativo de búsqueda de raíces que usa la recta tangente a la curva en un punto semilla (t₀), observando su cruce con el eje horizontal hasta converger en la raíz exacta.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39" y="3246120"/>
            <a:ext cx="10648095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6" name="Text 4"/>
          <p:cNvSpPr/>
          <p:nvPr/>
        </p:nvSpPr>
        <p:spPr>
          <a:xfrm>
            <a:off x="548639" y="3246120"/>
            <a:ext cx="10648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tₙ₊₁ = tₙ − f(tₙ) / f'(tₙ)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39" y="4343400"/>
            <a:ext cx="106480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modelo, f(t) = P(t) − (</a:t>
            </a:r>
            <a:r>
              <a:rPr lang="en-US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 que permite encontrar el día exacto t en que la tendencia polinomial alcanza el puntaje esperado.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del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86808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(Fecha)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 x. Se transforma en un vector de enteros consecutivos: x₀ = 0 en el primer día hábil de oct-2019 y xₙ ≈ 1260 al cierre del período.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4846320" cy="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4407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(Precio de cierre)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y. Sobre ella se ajusta el polinomio por mínimos cuadrados y Newton-Raphson aproxima derivadas locales para hallar puntos de resistencia técnica.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5" name="Text 13"/>
          <p:cNvSpPr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MUESTREO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Diaria (solo días de operación bursátil)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7889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indicadores macroeconómicos +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público de Kaggle. Incluye volatilidad implícita, tasas de interés y activos de refugio.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sobre normalización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22452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presenta valores en escala normalizada (miles), pero no documenta el proceso de escalado — esto se resolverá empíricamente en la fase de Validación.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herramientas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estándar vía Jupyter Notebooks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663440" y="21762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6344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matricial y operaciones matemáticas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0392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50392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grandes volúmenes de datos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22960" y="4233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resultados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663440" y="4233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66344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466344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colaborativo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8503920" y="4233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50392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VSCode / Colab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3920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locales y en la nube integrados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y linealización temporal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calendario tenían un formato cualitativo imposible de operar algebraicamente. Se creó la variable t, donde cada incremento unitario equivale a un día hábil bursátil, eliminando fines de semana y feriados. Los precios se estandarizaron con redondeo a 8 decimales.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612648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6" name="Text 4"/>
          <p:cNvSpPr/>
          <p:nvPr/>
        </p:nvSpPr>
        <p:spPr>
          <a:xfrm>
            <a:off x="731520" y="38953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 / pd.to_datetime()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6966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y convierte fechas a formato cronológico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636008"/>
            <a:ext cx="612648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9" name="Text 7"/>
          <p:cNvSpPr/>
          <p:nvPr/>
        </p:nvSpPr>
        <p:spPr>
          <a:xfrm>
            <a:off x="731520" y="46908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9651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índice continuo de días hábiles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431536"/>
            <a:ext cx="612648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00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.round(8)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760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los precios a 8 decimales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22376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COMPLETADO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Ventana: 2019-10-01 → 2024-10-31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(n) para cálculo: 1.340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3108960"/>
            <a:ext cx="41148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223760" y="32461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32461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64040" y="3246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close_price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5753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2019-10-01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15400" y="357530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64040" y="35753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32.863335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39044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2019-10-02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15400" y="39044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3904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31.913334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42336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2019-10-03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5400" y="42336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4233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32.380001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5628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2019-10-04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5400" y="456285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64040" y="45628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33.076668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892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2019-10-07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48920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64040" y="4892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33.003334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del dataset Train /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el sobreajuste dado la dependencia temporal de las series financieras, se trabajó con una proporción 80% entrenamiento / 20% prueba, respaldada por literatura que recomienda superar el 70% de muestras para el mejor rendimiento, precisión y sensibilidad del modelo.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/ int()  —  Longitud de vectores y punto de corte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.iloc[]  —  Localiza la fila donde termina train / inicia 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.date()  —  Extrae la fecha calendario del registro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040880" y="178308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040880" y="50749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04088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1.072 registros train  ·  268 registros test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Interpolación y suavizado con splines cúbicos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79120" y="1508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el Spline Cúbico Natural (segunda derivada nula en las fronteras), que absorbe las tensiones de la curva y previene el Fenómeno de Runge. La función se evaluó sobre 1.000 puntos densos para una representación visual suave que contrasta con el ruido diario.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AC0AA7-6155-BFAA-9823-A641A97D9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897" y="2575809"/>
            <a:ext cx="6591405" cy="38981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Determinación de la tendencia: control de sobreajuste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inicial (4 macroeventos) sugería un polinomio de grado 4, pero mostró claro sobreajuste. El grado 2 decrecía sin sentido económico hacia el infinito. Se optó por el </a:t>
            </a:r>
            <a:r>
              <a:rPr lang="en-US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1: máxima capacidad de generalización.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3756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-32.6844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3977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2648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-11.2777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977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91540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-0.1255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15400" y="3977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polinomio de 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fue el elegido: menor riesgo de sobreajuste y única extrapolación con sentido económico.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np.zeros() · np.transpose() · np.dot()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504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np.linalg.solve()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8887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np.mean() / np.sum()  →  cálculo de R²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4 (CONT.)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ajuste final: recta de tendencia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3954" y="2026158"/>
            <a:ext cx="3967377" cy="13792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4032691" cy="179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39.2809476 + 0.0224144283 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827417" cy="1790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simplicidad del modelo lineal prioriza la capacidad de generalización sobre el ajuste perfecto a los datos de entrenamiento — un principio central en la validación de modelos de series de tiempo bursátiles.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8254EC4-7C6A-4045-9FCE-BE3F7822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395" y="1455952"/>
            <a:ext cx="7200450" cy="4477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de proyecciones y modelos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44082" cy="2663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polinomio de mejor ajuste ya definido, esta fase ejecuta Newton-Raphson para calcular el cruce temporal exacto sobre el objetivo, y el orquestador principal dirige los resultados hacia los módulos de graficación.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1417" y="3817620"/>
            <a:ext cx="1900335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newton_raphson()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6938" y="3952962"/>
            <a:ext cx="228040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la mejor semilla y converge a la raíz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1900335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48975" y="4446998"/>
            <a:ext cx="228040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error contra la tolerancia admitida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91456"/>
            <a:ext cx="1900335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plt.axhline() / plt.axvline()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6938" y="5008601"/>
            <a:ext cx="228040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cruz sobre el punto de proyección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358384"/>
            <a:ext cx="1900335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72587" y="5543758"/>
            <a:ext cx="228040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 la raíz en la intersección de proyecciones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5A1201D-EB72-0A04-8007-92E708273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01" y="1677976"/>
            <a:ext cx="7415400" cy="4472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Flujograma funcional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orquestador principal comunica cada etapa: recibe los resultados de cada función y los envía a la siguiente fase.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54D0E8A7-EED7-ED0F-1E7B-F43387B4E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4307"/>
            <a:ext cx="11420669" cy="36244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Recuperando el factor de escala 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no documentó el proceso de normalización aplicado al precio de cierre. Se usó un procedimiento empírico: comparar el último valor normalizado del dataset con el valor histórico real en escala de miles, recuperado del portal Investing.com.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1264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48640" y="3977640"/>
                <a:ext cx="6126480" cy="1005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" pitchFamily="34" charset="-122"/>
                        </a:rPr>
                        <m:t>𝑲</m:t>
                      </m:r>
                      <m:r>
                        <a:rPr lang="en-US" sz="28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𝒓𝒆𝒇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𝒖𝒍𝒕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977640"/>
                <a:ext cx="6126480" cy="1005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48640" y="51206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referencia: 25 de octubre de 2024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7223760" y="1947672"/>
                <a:ext cx="13716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𝑪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𝒓𝒆𝒇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0" y="1947672"/>
                <a:ext cx="1371600" cy="36576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8503920" y="1947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20.352,02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2377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histórico (Investing.com)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3044952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503920" y="31181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74,69000244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35478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valor normalizado del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4215384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223760" y="4288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4288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272,48653548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47183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5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escala recuperado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7">
                <a:extLst>
                  <a:ext uri="{FF2B5EF4-FFF2-40B4-BE49-F238E27FC236}">
                    <a16:creationId xmlns:a16="http://schemas.microsoft.com/office/drawing/2014/main" id="{5C637CB1-2C5E-40F1-97DD-2D84B1416EC9}"/>
                  </a:ext>
                </a:extLst>
              </p:cNvPr>
              <p:cNvSpPr/>
              <p:nvPr/>
            </p:nvSpPr>
            <p:spPr>
              <a:xfrm>
                <a:off x="7178040" y="3132943"/>
                <a:ext cx="13716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𝑪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𝒖𝒍𝒕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22" name="Text 7">
                <a:extLst>
                  <a:ext uri="{FF2B5EF4-FFF2-40B4-BE49-F238E27FC236}">
                    <a16:creationId xmlns:a16="http://schemas.microsoft.com/office/drawing/2014/main" id="{5C637CB1-2C5E-40F1-97DD-2D84B1416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0" y="3132943"/>
                <a:ext cx="1371600" cy="365760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vs. valor real de mercado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el precio de cierre a la fecha del informe (21-jul-2026, día normalizado t = 1791, calculado con np.busday_count()), la recta de regresión proyecta un valor que se compara contra el dato real de Investing.com.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PROYECTADO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21.642,29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 · escalado por 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29.155,18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 · 21-jul-2026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65176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4582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RELATIVO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5820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5820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|y_real − y_pred| / y_real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captura correctamente la tendencia general del mercado, pero se aleja ~26% de los valores reales: el modelo lineal no logra capturar la volatilidad de corto plazo del índice.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confirmó el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Linealizar el tiempo (t) fue clave para la estabilidad y aplicación del modelo de proyección.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 etapas permitió que el suavizado por splines mitigara el ruido antes de ajustar la regresión lineal.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325880" y="4206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consolidación gráfica resultó indispensable para contrastar el comportamiento real y volátil frente a las proyecciones suavizadas.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Optimizar rendimiento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los datos en ventanas de tiempo más cortas, simplificando matrices y tiempos de compilación sin perder precisión.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el modelo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5661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enfoque a otros índices bursátiles para evaluar su desempeño según el volumen de datos ingresado.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4964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49640" y="30175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Graficación interactiva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5661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librerías interactivas que faciliten explorar la tendencia con zoom, sin alterar el código base.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01221-1BF0-3274-0811-327B6067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AC4AC6-D1E5-168F-BD36-8910ABBDF2BB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7B4C8C-3A72-8A13-5AE4-DDABD1B649F7}"/>
              </a:ext>
            </a:extLst>
          </p:cNvPr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Repositorio y estadísticas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C64274-B3E7-300C-E9BA-5DDC23813694}"/>
              </a:ext>
            </a:extLst>
          </p:cNvPr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dirty="0"/>
              <a:t>El proyecto se realizó mediante la plataforma de gestión de versiones GitHub</a:t>
            </a:r>
            <a:endParaRPr lang="en-US" sz="13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EECEE65-6111-64DF-5D88-A6129C5910FA}"/>
              </a:ext>
            </a:extLst>
          </p:cNvPr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545AB08-8573-80AA-2AE5-F058ED8CBACE}"/>
              </a:ext>
            </a:extLst>
          </p:cNvPr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 — https://github.com/JhosuaS/Grupo-4-Finanzas </a:t>
            </a:r>
            <a:endParaRPr lang="en-US" sz="12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A89852E-A6BC-60E9-E476-A9C05FF2F3A5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NASDAQ-100 · Métodos Numéricos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198BC9A-811D-61CB-772B-CC1B3F4479B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A748EB-CE51-203E-F57F-F00C37E33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" y="2156332"/>
            <a:ext cx="5671138" cy="30557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A8E430-0136-C4A1-6CBC-E78372BF8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835" y="2130497"/>
            <a:ext cx="6461165" cy="32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62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" y="49011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828800" y="449884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926080" y="464972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023360" y="424738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120640" y="439826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217920" y="399592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315200" y="414680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412480" y="374446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509760" y="3895344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0607040" y="3493008"/>
            <a:ext cx="82296" cy="82296"/>
          </a:xfrm>
          <a:prstGeom prst="ellipse">
            <a:avLst/>
          </a:prstGeom>
          <a:solidFill>
            <a:srgbClr val="3A43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08737" y="501791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1799</Words>
  <Application>Microsoft Office PowerPoint</Application>
  <PresentationFormat>Panorámica</PresentationFormat>
  <Paragraphs>278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Cambria</vt:lpstr>
      <vt:lpstr>Cambria Math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PC1</dc:creator>
  <cp:lastModifiedBy>JHOSUA ISRAEL SAA GONZALEZ</cp:lastModifiedBy>
  <cp:revision>3</cp:revision>
  <dcterms:created xsi:type="dcterms:W3CDTF">2026-07-22T23:07:26Z</dcterms:created>
  <dcterms:modified xsi:type="dcterms:W3CDTF">2026-07-23T03:54:56Z</dcterms:modified>
</cp:coreProperties>
</file>