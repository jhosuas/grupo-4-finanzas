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79FDE6-14A9-41BD-80A5-A1E6A1E8A75C}" v="1" dt="2026-05-27T00:22:32.9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ICK FABRICIO TOAPANTA CHANATAXI" userId="2ab5b195-a95e-4cda-9f87-0697e36c125e" providerId="ADAL" clId="{AC1577A3-D76F-467D-A60E-A55926D18214}"/>
    <pc:docChg chg="custSel modSld">
      <pc:chgData name="ERICK FABRICIO TOAPANTA CHANATAXI" userId="2ab5b195-a95e-4cda-9f87-0697e36c125e" providerId="ADAL" clId="{AC1577A3-D76F-467D-A60E-A55926D18214}" dt="2026-05-27T00:22:32.956" v="1"/>
      <pc:docMkLst>
        <pc:docMk/>
      </pc:docMkLst>
      <pc:sldChg chg="addSp delSp modSp mod">
        <pc:chgData name="ERICK FABRICIO TOAPANTA CHANATAXI" userId="2ab5b195-a95e-4cda-9f87-0697e36c125e" providerId="ADAL" clId="{AC1577A3-D76F-467D-A60E-A55926D18214}" dt="2026-05-27T00:22:32.956" v="1"/>
        <pc:sldMkLst>
          <pc:docMk/>
          <pc:sldMk cId="0" sldId="256"/>
        </pc:sldMkLst>
        <pc:spChg chg="del">
          <ac:chgData name="ERICK FABRICIO TOAPANTA CHANATAXI" userId="2ab5b195-a95e-4cda-9f87-0697e36c125e" providerId="ADAL" clId="{AC1577A3-D76F-467D-A60E-A55926D18214}" dt="2026-05-27T00:22:32.268" v="0" actId="478"/>
          <ac:spMkLst>
            <pc:docMk/>
            <pc:sldMk cId="0" sldId="256"/>
            <ac:spMk id="6" creationId="{00000000-0000-0000-0000-000000000000}"/>
          </ac:spMkLst>
        </pc:spChg>
        <pc:spChg chg="add mod">
          <ac:chgData name="ERICK FABRICIO TOAPANTA CHANATAXI" userId="2ab5b195-a95e-4cda-9f87-0697e36c125e" providerId="ADAL" clId="{AC1577A3-D76F-467D-A60E-A55926D18214}" dt="2026-05-27T00:22:32.956" v="1"/>
          <ac:spMkLst>
            <pc:docMk/>
            <pc:sldMk cId="0" sldId="256"/>
            <ac:spMk id="13" creationId="{BE8C6236-0A23-44E1-D08C-1F44D16B9B5F}"/>
          </ac:spMkLst>
        </pc:spChg>
        <pc:spChg chg="add mod">
          <ac:chgData name="ERICK FABRICIO TOAPANTA CHANATAXI" userId="2ab5b195-a95e-4cda-9f87-0697e36c125e" providerId="ADAL" clId="{AC1577A3-D76F-467D-A60E-A55926D18214}" dt="2026-05-27T00:22:32.956" v="1"/>
          <ac:spMkLst>
            <pc:docMk/>
            <pc:sldMk cId="0" sldId="256"/>
            <ac:spMk id="14" creationId="{43F84084-DBD1-218C-A29A-37D83A222F64}"/>
          </ac:spMkLst>
        </pc:spChg>
        <pc:picChg chg="add mod">
          <ac:chgData name="ERICK FABRICIO TOAPANTA CHANATAXI" userId="2ab5b195-a95e-4cda-9f87-0697e36c125e" providerId="ADAL" clId="{AC1577A3-D76F-467D-A60E-A55926D18214}" dt="2026-05-27T00:22:32.956" v="1"/>
          <ac:picMkLst>
            <pc:docMk/>
            <pc:sldMk cId="0" sldId="256"/>
            <ac:picMk id="15" creationId="{9EBB15B9-EDCD-7A9B-D8C6-1A8BCBAEDAA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85142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20040" y="36576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NUMÉRICOS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822960"/>
            <a:ext cx="5943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Análisis de la Dinámica</a:t>
            </a:r>
            <a:endParaRPr lang="en-US" sz="38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Precios del Índice</a:t>
            </a:r>
            <a:endParaRPr lang="en-US" sz="38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NASDAQ-100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20040" y="34290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90E0E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Octubre 2019 – Octubre 2024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" y="3977640"/>
            <a:ext cx="14630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320040" y="39776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4434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Erick Toapanta  •  Jose Pallares  •  Jhosua Saa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de Mayo de 2026</a:t>
            </a:r>
            <a:endParaRPr lang="en-US" sz="1000" dirty="0"/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BE8C6236-0A23-44E1-D08C-1F44D16B9B5F}"/>
              </a:ext>
            </a:extLst>
          </p:cNvPr>
          <p:cNvSpPr/>
          <p:nvPr/>
        </p:nvSpPr>
        <p:spPr>
          <a:xfrm>
            <a:off x="6400800" y="457200"/>
            <a:ext cx="2468880" cy="2468880"/>
          </a:xfrm>
          <a:prstGeom prst="ellipse">
            <a:avLst/>
          </a:prstGeom>
          <a:solidFill>
            <a:srgbClr val="0077B6">
              <a:alpha val="30000"/>
            </a:srgbClr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43F84084-DBD1-218C-A29A-37D83A222F64}"/>
              </a:ext>
            </a:extLst>
          </p:cNvPr>
          <p:cNvSpPr/>
          <p:nvPr/>
        </p:nvSpPr>
        <p:spPr>
          <a:xfrm>
            <a:off x="6858000" y="914400"/>
            <a:ext cx="1645920" cy="1645920"/>
          </a:xfrm>
          <a:prstGeom prst="ellipse">
            <a:avLst/>
          </a:prstGeom>
          <a:solidFill>
            <a:srgbClr val="00B4D8">
              <a:alpha val="5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9EBB15B9-EDCD-7A9B-D8C6-1A8BCBAEDA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1470973"/>
            <a:ext cx="1554480" cy="441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OBJETIVOS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2743200" cy="3566160"/>
          </a:xfrm>
          <a:prstGeom prst="rect">
            <a:avLst/>
          </a:prstGeom>
          <a:solidFill>
            <a:srgbClr val="F0F8FF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594360" cy="5943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411480" y="12984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29768" y="2011680"/>
            <a:ext cx="25237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Interpolación con Splines Cúbicos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9768" y="2697480"/>
            <a:ext cx="252374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interpolación por splines cúbicos sobre los registros de cierre para filtrar el ruido diario financiero, construyendo una curva continua que describa la volatilidad del activo.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64408" y="1188720"/>
            <a:ext cx="2743200" cy="3566160"/>
          </a:xfrm>
          <a:prstGeom prst="rect">
            <a:avLst/>
          </a:prstGeom>
          <a:solidFill>
            <a:srgbClr val="F0F8FF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3355848" y="1298448"/>
            <a:ext cx="594360" cy="5943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3355848" y="12984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74136" y="2011680"/>
            <a:ext cx="25237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Predictivo por Mínimos Cuadrados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74136" y="2697480"/>
            <a:ext cx="252374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un modelo predictivo mediante regresión que explique cómo el mercado reaccionó ante fenómenos reales como la pandemia, la inflación y el auge de la IA.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08776" y="1188720"/>
            <a:ext cx="2743200" cy="3566160"/>
          </a:xfrm>
          <a:prstGeom prst="rect">
            <a:avLst/>
          </a:prstGeom>
          <a:solidFill>
            <a:srgbClr val="F0F8FF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6300216" y="1298448"/>
            <a:ext cx="594360" cy="5943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6300216" y="12984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18504" y="2011680"/>
            <a:ext cx="25237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Newton-Raphson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18504" y="2697480"/>
            <a:ext cx="252374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el momento temporal exacto en el que el índice superará la barrera de los 85 puntos, empleando Newton-Raphson sobre la función de tendencia proyectada.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MARCO TEÓRICO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del Estudio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modela computacionalmente la serie temporal del cierre diario del NASDAQ-100 entre octubre 2019 y octubre 2024 — un intervalo de alto interés analítico por los macro-eventos que alteraron drásticamente el comportamiento de la economía global.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26974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Macro-Eventos del Período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3063240"/>
            <a:ext cx="3840480" cy="384048"/>
          </a:xfrm>
          <a:prstGeom prst="rect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457200" y="3099816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Estabilidad pre-pandemia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520440"/>
            <a:ext cx="3840480" cy="384048"/>
          </a:xfrm>
          <a:prstGeom prst="rect">
            <a:avLst/>
          </a:prstGeom>
          <a:solidFill>
            <a:srgbClr val="FFE0E0"/>
          </a:solidFill>
          <a:ln w="12700">
            <a:solidFill>
              <a:srgbClr val="FFE0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457200" y="3557016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B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🦠  Choque COVID-19 (2020)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977640"/>
            <a:ext cx="3840480" cy="384048"/>
          </a:xfrm>
          <a:prstGeom prst="rect">
            <a:avLst/>
          </a:prstGeom>
          <a:solidFill>
            <a:srgbClr val="F3E5F5"/>
          </a:solidFill>
          <a:ln w="12700">
            <a:solidFill>
              <a:srgbClr val="F3E5F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457200" y="4014216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Crisis inflacionaria (2022)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4434840"/>
            <a:ext cx="3840480" cy="384048"/>
          </a:xfrm>
          <a:prstGeom prst="rect">
            <a:avLst/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457200" y="4471416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Auge de la IA (2023-24)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1097280"/>
            <a:ext cx="0" cy="365760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4892040" y="1097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del Modelado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150876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Transformar un conjunto de datos discretos y aparentemente caóticos en información estructurada que permita interpretar la volatilidad extrema y la incertidumbre en los mercados financieros durante períodos de crisis y recuperación.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92040" y="26974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Empleados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3090672"/>
            <a:ext cx="1371600" cy="365760"/>
          </a:xfrm>
          <a:prstGeom prst="rect">
            <a:avLst/>
          </a:prstGeom>
          <a:solidFill>
            <a:srgbClr val="0077B6"/>
          </a:solidFill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09360" y="309067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independiente (x) — días hábiles consecutivos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92040" y="3547872"/>
            <a:ext cx="1371600" cy="365760"/>
          </a:xfrm>
          <a:prstGeom prst="rect">
            <a:avLst/>
          </a:prstGeom>
          <a:solidFill>
            <a:srgbClr val="0077B6"/>
          </a:solidFill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09360" y="354787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dependiente (y) — precio de cierre NASDAQ-100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92040" y="4005072"/>
            <a:ext cx="1371600" cy="365760"/>
          </a:xfrm>
          <a:prstGeom prst="rect">
            <a:avLst/>
          </a:prstGeom>
          <a:solidFill>
            <a:srgbClr val="0077B6"/>
          </a:solidFill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VIX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09360" y="400507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 volatilidad implícita — control local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92040" y="4462272"/>
            <a:ext cx="1371600" cy="365760"/>
          </a:xfrm>
          <a:prstGeom prst="rect">
            <a:avLst/>
          </a:prstGeom>
          <a:solidFill>
            <a:srgbClr val="0077B6"/>
          </a:solidFill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InterestRate / Gold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09360" y="446227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Factores macroeconómicos para sistema Ax=B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PRERREQUISITOS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822960"/>
          </a:xfrm>
          <a:prstGeom prst="rect">
            <a:avLst/>
          </a:prstGeom>
          <a:solidFill>
            <a:srgbClr val="E0F2FE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Dataset: NASDAQ.csv  —  ~1.260 registros diarios (lunes a viernes)  |  Rango: Octubre 2019 – Octubre 2024  |  Fuente: Kaggle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965960"/>
            <a:ext cx="278892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320040" y="1965960"/>
            <a:ext cx="278892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411480" y="210312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Diferencial e Iterativo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2715768"/>
            <a:ext cx="260604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411480" y="2715768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xₙ₊₁ = xₙ – f(xₙ) / f'(xₙ)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3291840"/>
            <a:ext cx="2606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para el método Newton-Raphson. Usa la derivada para encontrar rápidamente el punto donde una función cruza el eje horizontal.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64408" y="1965960"/>
            <a:ext cx="278892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3264408" y="1965960"/>
            <a:ext cx="278892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3355848" y="210312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 por Tramos (Splines)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55848" y="2715768"/>
            <a:ext cx="260604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3355848" y="2715768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Continuidad en f, f', f''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55848" y="3291840"/>
            <a:ext cx="2606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Garantiza que la curva sea continua y pase exactamente por cada registro, manteniendo suavidad al igualar la primera y segunda derivada en cada nodo.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08776" y="1965960"/>
            <a:ext cx="278892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6208776" y="1965960"/>
            <a:ext cx="278892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6300216" y="210312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Estadístico Global (MMC)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00216" y="2715768"/>
            <a:ext cx="260604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6300216" y="2715768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P(x) = a₀ + a₁x + a₂x²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00216" y="3291840"/>
            <a:ext cx="2606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Minimiza la suma de residuos cuadrados entre datos experimentales y el polinomio de aproximación mediante ecuaciones normales matriciales.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variables utilizadas: Date, Close, VIX, InterestRate y Gold — cada una vinculada a una técnica numérica específica del proyecto.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2004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DESARROLLO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2004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0E0E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Cuatro etapas metodológicas para el análisis numérico del NASDAQ-100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084832" cy="3703320"/>
          </a:xfrm>
          <a:prstGeom prst="rect">
            <a:avLst/>
          </a:prstGeom>
          <a:solidFill>
            <a:srgbClr val="00B4D8">
              <a:alpha val="85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1033272" y="1252728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1033272" y="125272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" y="2011680"/>
            <a:ext cx="19019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Tratamiento de Datos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651760"/>
            <a:ext cx="1719072" cy="0"/>
          </a:xfrm>
          <a:prstGeom prst="line">
            <a:avLst/>
          </a:prstGeom>
          <a:noFill/>
          <a:ln w="635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429768" y="2770632"/>
            <a:ext cx="18653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Filtrado: octubre 2019 – octubre 2024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29768" y="3392424"/>
            <a:ext cx="18653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Estandarización a 8 decimales (redondeo)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29768" y="4014216"/>
            <a:ext cx="18653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Minimización de errores de truncamiento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532888" y="1143000"/>
            <a:ext cx="2084832" cy="3703320"/>
          </a:xfrm>
          <a:prstGeom prst="rect">
            <a:avLst/>
          </a:prstGeom>
          <a:solidFill>
            <a:srgbClr val="0096C7">
              <a:alpha val="85000"/>
            </a:srgbClr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3246120" y="1252728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3246120" y="125272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624328" y="2011680"/>
            <a:ext cx="19019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Interpolación y Suavizado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15768" y="2651760"/>
            <a:ext cx="1719072" cy="0"/>
          </a:xfrm>
          <a:prstGeom prst="line">
            <a:avLst/>
          </a:prstGeom>
          <a:noFill/>
          <a:ln w="635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2642616" y="2770632"/>
            <a:ext cx="18653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Splines cúbicos sobre Date vs. Close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642616" y="3392424"/>
            <a:ext cx="18653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Evita picos y saltos abruptos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642616" y="4014216"/>
            <a:ext cx="18653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Función continua f(x) = y para toda la serie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45736" y="1143000"/>
            <a:ext cx="2084832" cy="3703320"/>
          </a:xfrm>
          <a:prstGeom prst="rect">
            <a:avLst/>
          </a:prstGeom>
          <a:solidFill>
            <a:srgbClr val="0077B6">
              <a:alpha val="85000"/>
            </a:srgbClr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5458968" y="1252728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5458968" y="125272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837176" y="2011680"/>
            <a:ext cx="19019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Determinación de Tendencia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928616" y="2651760"/>
            <a:ext cx="1719072" cy="0"/>
          </a:xfrm>
          <a:prstGeom prst="line">
            <a:avLst/>
          </a:prstGeom>
          <a:noFill/>
          <a:ln w="635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4855464" y="2770632"/>
            <a:ext cx="18653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Regresión por Mínimos Cuadrados sobre curva suavizada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55464" y="3392424"/>
            <a:ext cx="18653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Detección del grado óptimo del polinomio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55464" y="4014216"/>
            <a:ext cx="18653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Identificación de macro-eventos (pandemia, IA, inflación)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958584" y="1143000"/>
            <a:ext cx="2084832" cy="3703320"/>
          </a:xfrm>
          <a:prstGeom prst="rect">
            <a:avLst/>
          </a:prstGeom>
          <a:solidFill>
            <a:srgbClr val="023E8A">
              <a:alpha val="85000"/>
            </a:srgbClr>
          </a:solidFill>
          <a:ln w="12700">
            <a:solidFill>
              <a:srgbClr val="023E8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Shape 28"/>
          <p:cNvSpPr/>
          <p:nvPr/>
        </p:nvSpPr>
        <p:spPr>
          <a:xfrm>
            <a:off x="7671816" y="1252728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7671816" y="125272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3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050024" y="2011680"/>
            <a:ext cx="19019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Estimación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141464" y="2651760"/>
            <a:ext cx="1719072" cy="0"/>
          </a:xfrm>
          <a:prstGeom prst="line">
            <a:avLst/>
          </a:prstGeom>
          <a:noFill/>
          <a:ln w="635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Text 32"/>
          <p:cNvSpPr/>
          <p:nvPr/>
        </p:nvSpPr>
        <p:spPr>
          <a:xfrm>
            <a:off x="7068312" y="2770632"/>
            <a:ext cx="18653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Newton-Raphson sobre el polinomio obtenido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068312" y="3392424"/>
            <a:ext cx="18653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¿Cuándo superará el índice los 85 puntos?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068312" y="4014216"/>
            <a:ext cx="18653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Convergencia garantizada por suavizado previo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DESARROLLO  |  Etapas 1 y 2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54864" cy="1554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02920" y="10515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Tratamiento de Datos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Filtrado temporal: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Recuperación de registros octubre 2019 – octubre 2024.
</a:t>
            </a: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Estandarización: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Redondeo a 8 decimales para uniformidad.
</a:t>
            </a: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errores: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errores de redondeo o truncamiento pueden alterar significativamente resultados en grandes volúmenes de datos.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2743200"/>
            <a:ext cx="54864" cy="21031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502920" y="27432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Interpolación y Suavizado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320040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identificado: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índices presentan ruido y valores atípicos contrarios a la tendencia por variaciones diarias abruptas.
</a:t>
            </a: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— Splines cúbicos: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Evitan picos o saltos abruptos en la función de tendencia, a diferencia de la interpolación lineal que ocasionaría subajuste.
</a:t>
            </a: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Variables: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(independiente) y Close (dependiente), indicador reconocido para predicción de tendencias bursátiles.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051560"/>
            <a:ext cx="4023360" cy="3840480"/>
          </a:xfrm>
          <a:prstGeom prst="rect">
            <a:avLst/>
          </a:prstGeom>
          <a:solidFill>
            <a:srgbClr val="F8FA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4937760" y="11430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 de Interpolación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0" y="2103120"/>
            <a:ext cx="0" cy="228600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5029200" y="4389120"/>
            <a:ext cx="347472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 rot="16200000">
            <a:off x="4709160" y="22402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858000" y="44348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(días)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257800" y="3086100"/>
            <a:ext cx="91440" cy="9144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5715000" y="3438144"/>
            <a:ext cx="91440" cy="9144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6172200" y="3236976"/>
            <a:ext cx="91440" cy="9144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6629400" y="3589020"/>
            <a:ext cx="91440" cy="9144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7086600" y="3387852"/>
            <a:ext cx="91440" cy="9144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7543800" y="3739896"/>
            <a:ext cx="91440" cy="9144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8001000" y="3538728"/>
            <a:ext cx="91440" cy="9144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Shape 22"/>
          <p:cNvSpPr/>
          <p:nvPr/>
        </p:nvSpPr>
        <p:spPr>
          <a:xfrm>
            <a:off x="8458200" y="3890772"/>
            <a:ext cx="91440" cy="9144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Shape 23"/>
          <p:cNvSpPr/>
          <p:nvPr/>
        </p:nvSpPr>
        <p:spPr>
          <a:xfrm rot="2255776">
            <a:off x="5303520" y="3131820"/>
            <a:ext cx="577033" cy="0"/>
          </a:xfrm>
          <a:prstGeom prst="line">
            <a:avLst/>
          </a:prstGeom>
          <a:noFill/>
          <a:ln w="19050">
            <a:solidFill>
              <a:srgbClr val="F4A261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 rot="-1424970">
            <a:off x="5760720" y="3483864"/>
            <a:ext cx="499500" cy="0"/>
          </a:xfrm>
          <a:prstGeom prst="line">
            <a:avLst/>
          </a:prstGeom>
          <a:noFill/>
          <a:ln w="19050">
            <a:solidFill>
              <a:srgbClr val="F4A261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 rot="2255776">
            <a:off x="6217920" y="3282696"/>
            <a:ext cx="577033" cy="0"/>
          </a:xfrm>
          <a:prstGeom prst="line">
            <a:avLst/>
          </a:prstGeom>
          <a:noFill/>
          <a:ln w="19050">
            <a:solidFill>
              <a:srgbClr val="F4A261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28" name="Shape 26"/>
          <p:cNvSpPr/>
          <p:nvPr/>
        </p:nvSpPr>
        <p:spPr>
          <a:xfrm rot="-1424970">
            <a:off x="6675120" y="3634740"/>
            <a:ext cx="499500" cy="0"/>
          </a:xfrm>
          <a:prstGeom prst="line">
            <a:avLst/>
          </a:prstGeom>
          <a:noFill/>
          <a:ln w="19050">
            <a:solidFill>
              <a:srgbClr val="F4A261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29" name="Shape 27"/>
          <p:cNvSpPr/>
          <p:nvPr/>
        </p:nvSpPr>
        <p:spPr>
          <a:xfrm rot="2255776">
            <a:off x="7132320" y="3433572"/>
            <a:ext cx="577033" cy="0"/>
          </a:xfrm>
          <a:prstGeom prst="line">
            <a:avLst/>
          </a:prstGeom>
          <a:noFill/>
          <a:ln w="19050">
            <a:solidFill>
              <a:srgbClr val="F4A261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30" name="Shape 28"/>
          <p:cNvSpPr/>
          <p:nvPr/>
        </p:nvSpPr>
        <p:spPr>
          <a:xfrm rot="-1424970">
            <a:off x="7589520" y="3785616"/>
            <a:ext cx="499500" cy="0"/>
          </a:xfrm>
          <a:prstGeom prst="line">
            <a:avLst/>
          </a:prstGeom>
          <a:noFill/>
          <a:ln w="19050">
            <a:solidFill>
              <a:srgbClr val="F4A261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31" name="Shape 29"/>
          <p:cNvSpPr/>
          <p:nvPr/>
        </p:nvSpPr>
        <p:spPr>
          <a:xfrm rot="2255776">
            <a:off x="8046720" y="3584448"/>
            <a:ext cx="577033" cy="0"/>
          </a:xfrm>
          <a:prstGeom prst="line">
            <a:avLst/>
          </a:prstGeom>
          <a:noFill/>
          <a:ln w="19050">
            <a:solidFill>
              <a:srgbClr val="F4A261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32" name="Shape 30"/>
          <p:cNvSpPr/>
          <p:nvPr/>
        </p:nvSpPr>
        <p:spPr>
          <a:xfrm rot="2005489">
            <a:off x="5303520" y="3131820"/>
            <a:ext cx="273901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Shape 31"/>
          <p:cNvSpPr/>
          <p:nvPr/>
        </p:nvSpPr>
        <p:spPr>
          <a:xfrm rot="2480867">
            <a:off x="5532120" y="3282696"/>
            <a:ext cx="30451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Shape 32"/>
          <p:cNvSpPr/>
          <p:nvPr/>
        </p:nvSpPr>
        <p:spPr>
          <a:xfrm rot="-1095773">
            <a:off x="5760720" y="3483864"/>
            <a:ext cx="240726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Shape 33"/>
          <p:cNvSpPr/>
          <p:nvPr/>
        </p:nvSpPr>
        <p:spPr>
          <a:xfrm rot="-1728648">
            <a:off x="5989320" y="3408426"/>
            <a:ext cx="260895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Shape 34"/>
          <p:cNvSpPr/>
          <p:nvPr/>
        </p:nvSpPr>
        <p:spPr>
          <a:xfrm rot="2005489">
            <a:off x="6217920" y="3282696"/>
            <a:ext cx="273901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Shape 35"/>
          <p:cNvSpPr/>
          <p:nvPr/>
        </p:nvSpPr>
        <p:spPr>
          <a:xfrm rot="2480867">
            <a:off x="6446520" y="3433572"/>
            <a:ext cx="30451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8" name="Shape 36"/>
          <p:cNvSpPr/>
          <p:nvPr/>
        </p:nvSpPr>
        <p:spPr>
          <a:xfrm rot="-1095773">
            <a:off x="6675120" y="3634740"/>
            <a:ext cx="240726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Shape 37"/>
          <p:cNvSpPr/>
          <p:nvPr/>
        </p:nvSpPr>
        <p:spPr>
          <a:xfrm rot="-1728648">
            <a:off x="6903720" y="3559302"/>
            <a:ext cx="260895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Shape 38"/>
          <p:cNvSpPr/>
          <p:nvPr/>
        </p:nvSpPr>
        <p:spPr>
          <a:xfrm rot="2005489">
            <a:off x="7132320" y="3433572"/>
            <a:ext cx="273901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1" name="Shape 39"/>
          <p:cNvSpPr/>
          <p:nvPr/>
        </p:nvSpPr>
        <p:spPr>
          <a:xfrm rot="2480867">
            <a:off x="7360920" y="3584448"/>
            <a:ext cx="30451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Shape 40"/>
          <p:cNvSpPr/>
          <p:nvPr/>
        </p:nvSpPr>
        <p:spPr>
          <a:xfrm rot="-1095773">
            <a:off x="7589520" y="3785616"/>
            <a:ext cx="240726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Shape 41"/>
          <p:cNvSpPr/>
          <p:nvPr/>
        </p:nvSpPr>
        <p:spPr>
          <a:xfrm rot="-1728648">
            <a:off x="7818120" y="3710178"/>
            <a:ext cx="260895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4" name="Shape 42"/>
          <p:cNvSpPr/>
          <p:nvPr/>
        </p:nvSpPr>
        <p:spPr>
          <a:xfrm rot="2255776">
            <a:off x="8046720" y="3584448"/>
            <a:ext cx="288516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5" name="Shape 43"/>
          <p:cNvSpPr/>
          <p:nvPr/>
        </p:nvSpPr>
        <p:spPr>
          <a:xfrm rot="2255776">
            <a:off x="8275320" y="3760470"/>
            <a:ext cx="288516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6" name="Shape 44"/>
          <p:cNvSpPr/>
          <p:nvPr/>
        </p:nvSpPr>
        <p:spPr>
          <a:xfrm>
            <a:off x="5029200" y="4663440"/>
            <a:ext cx="36576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7" name="Text 45"/>
          <p:cNvSpPr/>
          <p:nvPr/>
        </p:nvSpPr>
        <p:spPr>
          <a:xfrm>
            <a:off x="5486400" y="459943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Spline cúbico (suavizado)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029200" y="4892040"/>
            <a:ext cx="365760" cy="0"/>
          </a:xfrm>
          <a:prstGeom prst="line">
            <a:avLst/>
          </a:prstGeom>
          <a:noFill/>
          <a:ln w="19050">
            <a:solidFill>
              <a:srgbClr val="F4A261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49" name="Text 47"/>
          <p:cNvSpPr/>
          <p:nvPr/>
        </p:nvSpPr>
        <p:spPr>
          <a:xfrm>
            <a:off x="5486400" y="482803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Interpolación lineal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DESARROLLO  |  Etapas 3 y 4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54864" cy="2011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02920" y="10515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Determinación de la Tendencia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Método: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por Mínimos Cuadrados sobre la curva suavizada.
</a:t>
            </a: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Modelo: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P(x) = a₀ + a₁x + a₂x² ... Grado óptimo detectado por ajuste.
</a:t>
            </a: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Macro-eventos esperados: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Pandemia → burbuja tecnológica → inflación 2022 → auge IA. Polinomio de grado ≥ 4 se espera como mejor ajuste.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3200400"/>
            <a:ext cx="54864" cy="16459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502920" y="32004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Estimación con Newton-Raphson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365760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clave: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¿En qué momento superará el índice NASDAQ-100 la barrera de los 85 puntos?
</a:t>
            </a: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Método: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Newton-Raphson aplicado sobre el polinomio de tendencia. Convergencia asegurada por el suavizado previo.
</a:t>
            </a:r>
            <a:r>
              <a:rPr lang="en-US" sz="11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Fórmula: </a:t>
            </a: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xₙ₊₁ = xₙ – [P(xₙ) – 85] / P'(xₙ)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051560"/>
            <a:ext cx="4023360" cy="3840480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4937760" y="11430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Newton-Raphson — Diagrama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0" y="1554480"/>
            <a:ext cx="347472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5029200" y="15544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xₙ₊₁ = xₙ – f(xₙ) / f'(xₙ)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29200" y="2331720"/>
            <a:ext cx="73152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5029200" y="233172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x₀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833872" y="23317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inicial (inicio de la predicción)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0" y="2807208"/>
            <a:ext cx="73152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5029200" y="2807208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f(x₀)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833872" y="280720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P(x₀) – 85 (distancia al objetivo)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0" y="3282696"/>
            <a:ext cx="73152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5029200" y="3282696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f'(x₀)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833872" y="328269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Derivada del polinomio en x₀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0" y="3758184"/>
            <a:ext cx="73152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5029200" y="3758184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x₁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833872" y="3758184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 aproximación más cercana a la raíz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0" y="4233672"/>
            <a:ext cx="73152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5029200" y="4233672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Converge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833872" y="423367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|P(xₙ) – 85| &lt; ε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CONCLUSIONES Y RECOMENDACIONES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274320" cy="274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13232" y="1481328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métodos numéricos aplicados al NASDAQ-100 permiten transformar datos caóticos en un modelo matemático estructurado y manejable.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274320" cy="274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365760" y="2286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13232" y="2258568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splines cúbicos son un enfoque óptimo para mitigar fluctuaciones de alta frecuencia sin distorsionar la tendencia subyacente.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3063240"/>
            <a:ext cx="274320" cy="274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36576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13232" y="3035808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etapas de filtrado y suavizado son indispensables para disminuir el ruido y mejorar el ajuste de la curva de tendencia.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840480"/>
            <a:ext cx="274320" cy="274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365760" y="3840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13232" y="3813048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búsqueda de raíces con Newton-Raphson fundamenta matemáticamente la viabilidad de proyecciones bursátiles a largo plazo.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17720" y="1051560"/>
            <a:ext cx="0" cy="384048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4800600" y="105156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800600" y="1508760"/>
            <a:ext cx="3566160" cy="685800"/>
          </a:xfrm>
          <a:prstGeom prst="rect">
            <a:avLst/>
          </a:prstGeom>
          <a:solidFill>
            <a:srgbClr val="F0FDFF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4892040" y="155448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Limitar el estudio a la ventana de 5 años (oct. 2019 – oct. 2024) para coherencia y control del intervalo.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00600" y="2313432"/>
            <a:ext cx="3566160" cy="685800"/>
          </a:xfrm>
          <a:prstGeom prst="rect">
            <a:avLst/>
          </a:prstGeom>
          <a:solidFill>
            <a:srgbClr val="F0FDFF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4892040" y="2359152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Realizar un análisis previo para definir el intervalo de tiempo y reducir el volumen de datos innecesarios.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0600" y="3118104"/>
            <a:ext cx="3566160" cy="685800"/>
          </a:xfrm>
          <a:prstGeom prst="rect">
            <a:avLst/>
          </a:prstGeom>
          <a:solidFill>
            <a:srgbClr val="F0FDFF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4892040" y="3163824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Adaptar el modelo a tendencias específicas o actuales en lugar de intentar predecir todo el mercado.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00600" y="3922776"/>
            <a:ext cx="3566160" cy="685800"/>
          </a:xfrm>
          <a:prstGeom prst="rect">
            <a:avLst/>
          </a:prstGeom>
          <a:solidFill>
            <a:srgbClr val="F0FDFF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4892040" y="3968496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Optimizar el uso de memoria del procesador y evitar la acumulación de errores de redondeo catastróficos.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1102</Words>
  <Application>Microsoft Office PowerPoint</Application>
  <PresentationFormat>Presentación en pantalla (16:9)</PresentationFormat>
  <Paragraphs>121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Consolas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NASDAQ-100 - Métodos Numéricos</dc:title>
  <dc:subject>PptxGenJS Presentation</dc:subject>
  <dc:creator>PptxGenJS</dc:creator>
  <cp:lastModifiedBy>ERICK FABRICIO TOAPANTA CHANATAXI</cp:lastModifiedBy>
  <cp:revision>2</cp:revision>
  <dcterms:created xsi:type="dcterms:W3CDTF">2026-05-26T23:59:21Z</dcterms:created>
  <dcterms:modified xsi:type="dcterms:W3CDTF">2026-05-27T00:22:42Z</dcterms:modified>
</cp:coreProperties>
</file>